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7" r:id="rId6"/>
    <p:sldId id="298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B0D4"/>
    <a:srgbClr val="00FFFF"/>
    <a:srgbClr val="9BBB59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390" y="5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E14F9-608E-6C50-E190-D0445CF82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EC36868A-0BA9-535B-E202-D8411F2472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B02834A8-4CCF-7E3F-CEF9-DBD213252E7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F5A2D917-6844-AF7A-1F4E-D18F3EEA2B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9873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62CD9-9EFA-1B51-311D-A1D51D57F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4F08DB7F-68CF-1553-EE33-4453AD279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97F5942-486E-9935-6EAC-C21284A0CC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9A9E85CB-A146-5DC9-21C3-2460C31F15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283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3520" y="79931"/>
            <a:ext cx="10363200" cy="1062337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693512"/>
          </a:xfrm>
          <a:prstGeom prst="rect">
            <a:avLst/>
          </a:prstGeom>
          <a:noFill/>
        </p:spPr>
        <p:txBody>
          <a:bodyPr wrap="square" lIns="82296" tIns="82296" rIns="82296" bIns="82296" rtlCol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dirty="0">
                <a:solidFill>
                  <a:srgbClr val="0F2E4C"/>
                </a:solidFill>
                <a:latin typeface="Arial"/>
              </a:rPr>
              <a:t>Problem Statement ID : </a:t>
            </a:r>
            <a:r>
              <a:rPr sz="2000" b="0" dirty="0">
                <a:solidFill>
                  <a:srgbClr val="1A2430"/>
                </a:solidFill>
                <a:latin typeface="Arial"/>
              </a:rPr>
              <a:t>SIH26177</a:t>
            </a:r>
            <a:endParaRPr lang="en-US" sz="2400" dirty="0"/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dirty="0">
                <a:solidFill>
                  <a:srgbClr val="0F2E4C"/>
                </a:solidFill>
                <a:latin typeface="Arial"/>
              </a:rPr>
              <a:t>Problem Statement Title : </a:t>
            </a:r>
            <a:r>
              <a:rPr sz="2000" b="0" dirty="0">
                <a:solidFill>
                  <a:srgbClr val="1A2430"/>
                </a:solidFill>
                <a:latin typeface="Arial"/>
              </a:rPr>
              <a:t>A Deployable AI-Powered Autonomous Drone that Aids Search-and-Rescue Operations by Detecting People and Hazards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dirty="0">
                <a:solidFill>
                  <a:srgbClr val="0F2E4C"/>
                </a:solidFill>
                <a:latin typeface="Arial"/>
              </a:rPr>
              <a:t>Theme : </a:t>
            </a:r>
            <a:r>
              <a:rPr sz="2000" b="0" dirty="0">
                <a:solidFill>
                  <a:srgbClr val="1A2430"/>
                </a:solidFill>
                <a:latin typeface="Arial"/>
              </a:rPr>
              <a:t>Robotics and Drones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dirty="0">
                <a:solidFill>
                  <a:srgbClr val="0F2E4C"/>
                </a:solidFill>
                <a:latin typeface="Arial"/>
              </a:rPr>
              <a:t>PS Category : </a:t>
            </a:r>
            <a:r>
              <a:rPr sz="2000" b="0" dirty="0">
                <a:solidFill>
                  <a:srgbClr val="1A2430"/>
                </a:solidFill>
                <a:latin typeface="Arial"/>
              </a:rPr>
              <a:t>Hardware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dirty="0">
                <a:solidFill>
                  <a:srgbClr val="0F2E4C"/>
                </a:solidFill>
                <a:latin typeface="Arial"/>
              </a:rPr>
              <a:t>Team ID : </a:t>
            </a:r>
            <a:r>
              <a:rPr lang="en-US" sz="2000" b="1" dirty="0">
                <a:solidFill>
                  <a:srgbClr val="0F2E4C"/>
                </a:solidFill>
                <a:latin typeface="Arial"/>
              </a:rPr>
              <a:t>R15-270</a:t>
            </a:r>
            <a:endParaRPr sz="2000" b="0" dirty="0">
              <a:solidFill>
                <a:srgbClr val="1A2430"/>
              </a:solidFill>
              <a:latin typeface="Arial"/>
            </a:endParaRP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2000" b="1" dirty="0">
                <a:solidFill>
                  <a:srgbClr val="0F2E4C"/>
                </a:solidFill>
                <a:latin typeface="Arial"/>
              </a:rPr>
              <a:t>Team Name (Registered on portal) : </a:t>
            </a:r>
            <a:r>
              <a:rPr lang="en-US" sz="2000" b="0" dirty="0">
                <a:solidFill>
                  <a:srgbClr val="1A2430"/>
                </a:solidFill>
                <a:latin typeface="Arial"/>
              </a:rPr>
              <a:t>JATAYU</a:t>
            </a:r>
            <a:endParaRPr sz="2000" b="0" dirty="0">
              <a:solidFill>
                <a:srgbClr val="1A2430"/>
              </a:solidFill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9" name="Subtitle 8">
            <a:extLst>
              <a:ext uri="{FF2B5EF4-FFF2-40B4-BE49-F238E27FC236}">
                <a16:creationId xmlns:a16="http://schemas.microsoft.com/office/drawing/2014/main" id="{29D2F093-844D-52AF-F58F-71BD9D593B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51E1DE2E-CFFE-3FE8-8987-D22771F533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" r="142"/>
          <a:stretch/>
        </p:blipFill>
        <p:spPr>
          <a:xfrm>
            <a:off x="320675" y="726377"/>
            <a:ext cx="11550650" cy="5977585"/>
          </a:xfrm>
          <a:prstGeom prst="rect">
            <a:avLst/>
          </a:prstGeom>
        </p:spPr>
      </p:pic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-218536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THE JATAYU DRONE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93032" y="79396"/>
            <a:ext cx="1619797" cy="54713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JATAYU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6350" y="-28814"/>
            <a:ext cx="2018882" cy="9532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2DBA32-9DCC-211A-5E2E-1BCE779B90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" b="37"/>
          <a:stretch/>
        </p:blipFill>
        <p:spPr>
          <a:xfrm>
            <a:off x="207133" y="728291"/>
            <a:ext cx="11777734" cy="5957976"/>
          </a:xfrm>
          <a:prstGeom prst="rect">
            <a:avLst/>
          </a:prstGeom>
        </p:spPr>
      </p:pic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52091" y="-132413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9404" y="0"/>
            <a:ext cx="1859823" cy="878174"/>
          </a:xfrm>
          <a:prstGeom prst="rect">
            <a:avLst/>
          </a:prstGeom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E24565AC-279D-0ACA-58EF-C07E8D2E822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93032" y="79396"/>
            <a:ext cx="1619797" cy="54713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JATAYU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DC96D3-81F6-48D9-6F90-2E2E6C26C2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41" t="23066" r="955" b="3415"/>
          <a:stretch>
            <a:fillRect/>
          </a:stretch>
        </p:blipFill>
        <p:spPr>
          <a:xfrm>
            <a:off x="66548" y="1160707"/>
            <a:ext cx="7226300" cy="3611309"/>
          </a:xfrm>
          <a:prstGeom prst="rect">
            <a:avLst/>
          </a:prstGeom>
        </p:spPr>
      </p:pic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36" name="Rounded Rectangle 17435"/>
          <p:cNvSpPr/>
          <p:nvPr/>
        </p:nvSpPr>
        <p:spPr>
          <a:xfrm>
            <a:off x="329773" y="4899424"/>
            <a:ext cx="3349925" cy="170633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12700">
            <a:solidFill>
              <a:srgbClr val="D3DAE1"/>
            </a:solidFill>
          </a:ln>
          <a:effectLst>
            <a:outerShdw blurRad="40000" dist="18000" dir="5400000" rotWithShape="0">
              <a:srgbClr val="1A24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82296" rIns="82296" bIns="82296" rtlCol="0" anchor="ctr"/>
          <a:lstStyle/>
          <a:p>
            <a:pPr algn="ctr">
              <a:lnSpc>
                <a:spcPct val="102000"/>
              </a:lnSpc>
              <a:spcAft>
                <a:spcPts val="600"/>
              </a:spcAft>
            </a:pPr>
            <a:r>
              <a:rPr sz="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Indoor navigation:</a:t>
            </a:r>
            <a:r>
              <a:rPr lang="en-IN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flying deep inside a collapsed structure, where GPS is gone, walls close in tight, and even VIO struggles for reliable reference.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Fully buried survivors with no signal:</a:t>
            </a:r>
            <a:r>
              <a:rPr lang="en-IN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person trapped under dense rubble whose phone is dead or shielded emits nothing for either a camera or the RF sniffer to catch.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Casualty prioritisation and </a:t>
            </a:r>
            <a:r>
              <a:rPr lang="en-IN" sz="9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traversability</a:t>
            </a:r>
            <a:r>
              <a:rPr lang="en-IN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IN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ranking who is most critical and mapping a clear, safe route so medics can actually reach them fast.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3931920" y="4899424"/>
            <a:ext cx="3246120" cy="1706330"/>
          </a:xfrm>
          <a:prstGeom prst="roundRect">
            <a:avLst>
              <a:gd name="adj" fmla="val 5000"/>
            </a:avLst>
          </a:prstGeom>
          <a:solidFill>
            <a:srgbClr val="F2F5F8"/>
          </a:solidFill>
          <a:ln w="12700">
            <a:solidFill>
              <a:srgbClr val="D3DAE1"/>
            </a:solidFill>
          </a:ln>
          <a:effectLst>
            <a:outerShdw blurRad="40000" dist="18000" dir="5400000" rotWithShape="0">
              <a:srgbClr val="1A2430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82296" rIns="82296" bIns="82296" rtlCol="0" anchor="ctr"/>
          <a:lstStyle/>
          <a:p>
            <a:pPr lvl="0" algn="ctr"/>
            <a:r>
              <a:rPr lang="en-IN" sz="10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STRATEGIES</a:t>
            </a:r>
          </a:p>
          <a:p>
            <a:pPr lvl="0" algn="ctr"/>
            <a:endParaRPr lang="en-IN" sz="9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Indoor navigation:</a:t>
            </a:r>
            <a:r>
              <a:rPr lang="en-IN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develop a smaller companion system with the same core capabilities, sized to enter and manoeuvre through confined interior voids.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Fully buried survivors:</a:t>
            </a:r>
            <a:r>
              <a:rPr lang="en-IN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integrate a stronger radar payload with see through sensing potential, giving a signal path where visual and RF cues cannot reach.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IN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Prioritisation and analysis:</a:t>
            </a:r>
            <a:r>
              <a:rPr lang="en-IN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deepen the software stack with VLM based models for richer casualty triage, scene understanding, and </a:t>
            </a:r>
            <a:r>
              <a:rPr lang="en-IN" sz="9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traversability</a:t>
            </a:r>
            <a:r>
              <a:rPr lang="en-IN" sz="9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analysis.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8922AFF-387C-EA21-173B-EC8A07F5A2D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45070" y="1782756"/>
            <a:ext cx="4464894" cy="404301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023A3C8-6A10-9FE4-E560-7E89445D11D3}"/>
              </a:ext>
            </a:extLst>
          </p:cNvPr>
          <p:cNvSpPr txBox="1"/>
          <p:nvPr/>
        </p:nvSpPr>
        <p:spPr>
          <a:xfrm>
            <a:off x="8174715" y="1323342"/>
            <a:ext cx="3210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Jatayu Single Unit Making Cost</a:t>
            </a:r>
            <a:endParaRPr lang="en-IN" b="1" dirty="0"/>
          </a:p>
        </p:txBody>
      </p:sp>
      <p:sp>
        <p:nvSpPr>
          <p:cNvPr id="16" name="Oval 15" descr="Your startup LOGO">
            <a:extLst>
              <a:ext uri="{FF2B5EF4-FFF2-40B4-BE49-F238E27FC236}">
                <a16:creationId xmlns:a16="http://schemas.microsoft.com/office/drawing/2014/main" id="{3CD6F45F-249F-1322-ED18-35230EE801D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93032" y="250307"/>
            <a:ext cx="1619797" cy="54713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JATAYU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1AEF3-1524-0AFA-6692-727FF1C5E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mpact and Benefits Infographic">
            <a:extLst>
              <a:ext uri="{FF2B5EF4-FFF2-40B4-BE49-F238E27FC236}">
                <a16:creationId xmlns:a16="http://schemas.microsoft.com/office/drawing/2014/main" id="{47089FBD-5C61-B055-6FB8-C0A8FA3A56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676" b="5978"/>
          <a:stretch>
            <a:fillRect/>
          </a:stretch>
        </p:blipFill>
        <p:spPr>
          <a:xfrm>
            <a:off x="182998" y="761041"/>
            <a:ext cx="11928528" cy="5595312"/>
          </a:xfrm>
          <a:prstGeom prst="rect">
            <a:avLst/>
          </a:prstGeom>
        </p:spPr>
      </p:pic>
      <p:sp>
        <p:nvSpPr>
          <p:cNvPr id="15361" name="Title 1">
            <a:extLst>
              <a:ext uri="{FF2B5EF4-FFF2-40B4-BE49-F238E27FC236}">
                <a16:creationId xmlns:a16="http://schemas.microsoft.com/office/drawing/2014/main" id="{A11A8D47-423B-64C4-D6B6-CCA1645F2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98" y="-218536"/>
            <a:ext cx="10972800" cy="1143000"/>
          </a:xfrm>
        </p:spPr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lang="en-US" sz="2800" b="1" dirty="0">
              <a:latin typeface="Arial" panose="020B0604020202020204" pitchFamily="34" charset="0"/>
              <a:ea typeface="ＭＳ Ｐゴシック" pitchFamily="1" charset="-128"/>
              <a:cs typeface="Arial" panose="020B06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559FB-0E72-D498-5632-F7886382F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5</a:t>
            </a:fld>
            <a:endParaRPr lang="en-US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1E24316-0A2E-5983-D6B5-E3A4BC5CD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6DB3ED70-36EC-F35F-CA90-3216412B464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93032" y="79396"/>
            <a:ext cx="1619797" cy="54713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JATAYU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E737EE-FCDE-92A1-D0CA-18E9767B51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6350" y="-28814"/>
            <a:ext cx="2018882" cy="95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672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79A09-3ACB-33D4-8145-393B59671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Key References for UAV Robotics">
            <a:extLst>
              <a:ext uri="{FF2B5EF4-FFF2-40B4-BE49-F238E27FC236}">
                <a16:creationId xmlns:a16="http://schemas.microsoft.com/office/drawing/2014/main" id="{5D94F80F-C30B-A73F-B777-FAACBCEF72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907" b="10784"/>
          <a:stretch>
            <a:fillRect/>
          </a:stretch>
        </p:blipFill>
        <p:spPr>
          <a:xfrm>
            <a:off x="1215798" y="875248"/>
            <a:ext cx="9760404" cy="5732445"/>
          </a:xfrm>
          <a:prstGeom prst="rect">
            <a:avLst/>
          </a:prstGeom>
        </p:spPr>
      </p:pic>
      <p:sp>
        <p:nvSpPr>
          <p:cNvPr id="17409" name="Title 1">
            <a:extLst>
              <a:ext uri="{FF2B5EF4-FFF2-40B4-BE49-F238E27FC236}">
                <a16:creationId xmlns:a16="http://schemas.microsoft.com/office/drawing/2014/main" id="{55471A18-F703-8119-2359-D2ABD5C14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2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66FEEC-D961-512A-CA63-8EC2B56832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8" name="Oval 7" descr="Your startup LOGO">
            <a:extLst>
              <a:ext uri="{FF2B5EF4-FFF2-40B4-BE49-F238E27FC236}">
                <a16:creationId xmlns:a16="http://schemas.microsoft.com/office/drawing/2014/main" id="{98892FC4-6474-ED6F-9E85-60E0C0ADCD1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93032" y="79396"/>
            <a:ext cx="1619797" cy="54713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JATAYU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4979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8337</TotalTime>
  <Words>255</Words>
  <Application>Microsoft Office PowerPoint</Application>
  <PresentationFormat>Widescreen</PresentationFormat>
  <Paragraphs>38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THE JATAYU DRONE SYSTEM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Tanmay Goyal</cp:lastModifiedBy>
  <cp:revision>152</cp:revision>
  <dcterms:created xsi:type="dcterms:W3CDTF">2013-12-12T18:46:50Z</dcterms:created>
  <dcterms:modified xsi:type="dcterms:W3CDTF">2026-09-16T03:28:13Z</dcterms:modified>
  <cp:category/>
</cp:coreProperties>
</file>